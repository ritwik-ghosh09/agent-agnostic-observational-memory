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4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erbeck Anke, CB-1" initials="DAC" lastIdx="16" clrIdx="0">
    <p:extLst>
      <p:ext uri="{19B8F6BF-5375-455C-9EA6-DF929625EA0E}">
        <p15:presenceInfo xmlns:p15="http://schemas.microsoft.com/office/powerpoint/2012/main" userId="S::anke.dannerbeck@bmwgroup.com::fd0449d5-378d-4b92-af7e-1dec4ec42989" providerId="AD"/>
      </p:ext>
    </p:extLst>
  </p:cmAuthor>
  <p:cmAuthor id="2" name="Mazur Karen, AU-1" initials="MKA" lastIdx="21" clrIdx="1">
    <p:extLst>
      <p:ext uri="{19B8F6BF-5375-455C-9EA6-DF929625EA0E}">
        <p15:presenceInfo xmlns:p15="http://schemas.microsoft.com/office/powerpoint/2012/main" userId="Mazur Karen, AU-1" providerId="None"/>
      </p:ext>
    </p:extLst>
  </p:cmAuthor>
  <p:cmAuthor id="3" name="Karen" initials="K" lastIdx="1" clrIdx="2">
    <p:extLst>
      <p:ext uri="{19B8F6BF-5375-455C-9EA6-DF929625EA0E}">
        <p15:presenceInfo xmlns:p15="http://schemas.microsoft.com/office/powerpoint/2012/main" userId="Kar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9EDA"/>
    <a:srgbClr val="39B3E6"/>
    <a:srgbClr val="035970"/>
    <a:srgbClr val="FFFFFF"/>
    <a:srgbClr val="B3F4FC"/>
    <a:srgbClr val="4BA5E4"/>
    <a:srgbClr val="055786"/>
    <a:srgbClr val="55B0C5"/>
    <a:srgbClr val="103458"/>
    <a:srgbClr val="0B40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D059F-39C3-436E-BA64-B24E681D2E92}" v="2" dt="2025-12-05T09:30:31.527"/>
  </p1510:revLst>
</p1510:revInfo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7386" autoAdjust="0"/>
  </p:normalViewPr>
  <p:slideViewPr>
    <p:cSldViewPr snapToGrid="0">
      <p:cViewPr varScale="1">
        <p:scale>
          <a:sx n="111" d="100"/>
          <a:sy n="111" d="100"/>
        </p:scale>
        <p:origin x="510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3012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81A5-E4C6-4927-B3C0-8FAA582B9D53}" type="datetimeFigureOut">
              <a:rPr lang="de-DE" smtClean="0">
                <a:latin typeface="BMWGroupTN Condensed" pitchFamily="50" charset="0"/>
              </a:rPr>
              <a:t>13.04.2026</a:t>
            </a:fld>
            <a:endParaRPr lang="de-DE" dirty="0">
              <a:latin typeface="BMWGroupTN Condensed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B3B58-435A-4CAB-BEDA-B203A898BBFC}" type="slidenum">
              <a:rPr lang="de-DE" smtClean="0">
                <a:latin typeface="BMWGroupTN Condensed" pitchFamily="50" charset="0"/>
              </a:rPr>
              <a:t>‹Nr.›</a:t>
            </a:fld>
            <a:endParaRPr lang="de-DE" dirty="0">
              <a:latin typeface="BMWGroupTN Condens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551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C9ACC0F7-209C-4EE4-A1D5-BFF0CBCA9BC3}" type="datetimeFigureOut">
              <a:rPr lang="de-DE" smtClean="0"/>
              <a:pPr/>
              <a:t>13.04.2026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845B7A2B-9D63-4AB1-9A7A-EE5F3179648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226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emf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image" Target="../media/image6.png"/><Relationship Id="rId10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|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Verschwommen, Blau, Farbigkei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B4160223-AC6B-21A1-527F-0381556484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8" b="8219"/>
          <a:stretch/>
        </p:blipFill>
        <p:spPr>
          <a:xfrm>
            <a:off x="361" y="-1"/>
            <a:ext cx="12191639" cy="6858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61FE545-33DC-FAAA-2C59-CEE52A02FA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5" b="7835"/>
          <a:stretch/>
        </p:blipFill>
        <p:spPr>
          <a:xfrm>
            <a:off x="-361" y="1"/>
            <a:ext cx="12192000" cy="6857999"/>
          </a:xfrm>
          <a:prstGeom prst="rect">
            <a:avLst/>
          </a:prstGeom>
        </p:spPr>
      </p:pic>
      <p:graphicFrame>
        <p:nvGraphicFramePr>
          <p:cNvPr id="14" name="Objekt 13" hidden="1">
            <a:extLst>
              <a:ext uri="{FF2B5EF4-FFF2-40B4-BE49-F238E27FC236}">
                <a16:creationId xmlns:a16="http://schemas.microsoft.com/office/drawing/2014/main" id="{BBDF4C60-5A05-4806-A4DE-2458463FB9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52879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44" imgH="344" progId="TCLayout.ActiveDocument.1">
                  <p:embed/>
                </p:oleObj>
              </mc:Choice>
              <mc:Fallback>
                <p:oleObj name="think-cell Folie" r:id="rId5" imgW="344" imgH="344" progId="TCLayout.ActiveDocument.1">
                  <p:embed/>
                  <p:pic>
                    <p:nvPicPr>
                      <p:cNvPr id="14" name="Objekt 13" hidden="1">
                        <a:extLst>
                          <a:ext uri="{FF2B5EF4-FFF2-40B4-BE49-F238E27FC236}">
                            <a16:creationId xmlns:a16="http://schemas.microsoft.com/office/drawing/2014/main" id="{BBDF4C60-5A05-4806-A4DE-2458463FB9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01627"/>
            <a:ext cx="12192000" cy="1412864"/>
          </a:xfrm>
          <a:solidFill>
            <a:srgbClr val="000000">
              <a:alpha val="50000"/>
            </a:srgbClr>
          </a:solidFill>
        </p:spPr>
        <p:txBody>
          <a:bodyPr vert="horz" wrap="square" lIns="572400" tIns="72000" rIns="572400" bIns="72000" anchor="b">
            <a:sp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title, two lines maximum.</a:t>
            </a:r>
            <a:br>
              <a:rPr lang="en-US" noProof="0" dirty="0"/>
            </a:br>
            <a:r>
              <a:rPr lang="en-US" noProof="0" dirty="0"/>
              <a:t>text can be moved vertically.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solidFill>
            <a:srgbClr val="000000">
              <a:alpha val="50000"/>
            </a:srgbClr>
          </a:solidFill>
        </p:spPr>
        <p:txBody>
          <a:bodyPr wrap="square" lIns="572400" tIns="72000" rIns="572400" bIns="72000">
            <a:sp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 err="1"/>
              <a:t>SubTitle</a:t>
            </a:r>
            <a:r>
              <a:rPr lang="de-DE" noProof="0" dirty="0"/>
              <a:t>,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</a:t>
            </a:r>
            <a:r>
              <a:rPr lang="en-US" noProof="0" dirty="0"/>
              <a:t>maximum</a:t>
            </a:r>
            <a:r>
              <a:rPr lang="de-DE" noProof="0" dirty="0"/>
              <a:t>.</a:t>
            </a:r>
          </a:p>
        </p:txBody>
      </p:sp>
      <p:sp>
        <p:nvSpPr>
          <p:cNvPr id="13" name="SmartArt-Platzhalter 6">
            <a:extLst>
              <a:ext uri="{FF2B5EF4-FFF2-40B4-BE49-F238E27FC236}">
                <a16:creationId xmlns:a16="http://schemas.microsoft.com/office/drawing/2014/main" id="{9A73E91D-2689-49C7-A58E-E621D71E8696}"/>
              </a:ext>
            </a:extLst>
          </p:cNvPr>
          <p:cNvSpPr>
            <a:spLocks noGrp="1" noChangeAspect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5" name="SmartArt-Platzhalter 4">
            <a:extLst>
              <a:ext uri="{FF2B5EF4-FFF2-40B4-BE49-F238E27FC236}">
                <a16:creationId xmlns:a16="http://schemas.microsoft.com/office/drawing/2014/main" id="{73B3AC2F-1421-44A9-82DC-26A810DF23F2}"/>
              </a:ext>
            </a:extLst>
          </p:cNvPr>
          <p:cNvSpPr>
            <a:spLocks noGrp="1" noChangeAspect="1"/>
          </p:cNvSpPr>
          <p:nvPr>
            <p:ph type="dgm" sz="quarter" idx="23" hasCustomPrompt="1"/>
          </p:nvPr>
        </p:nvSpPr>
        <p:spPr>
          <a:xfrm>
            <a:off x="9947294" y="572400"/>
            <a:ext cx="1672306" cy="572400"/>
          </a:xfr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242C1189-490C-4AEF-A482-D67AEF665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dirty="0" err="1"/>
              <a:t>Dept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1240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| Half Area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EF5BEF2A-9A1E-4EAC-B0F5-2DDB471F42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4446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EF5BEF2A-9A1E-4EAC-B0F5-2DDB471F42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6B223D4-141A-4CF8-A0E8-2BDBE75FE8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22302"/>
            <a:ext cx="6369154" cy="1144352"/>
          </a:xfrm>
        </p:spPr>
        <p:txBody>
          <a:bodyPr wrap="square" lIns="0" tIns="0" rIns="0" bIns="0">
            <a:spAutoFit/>
          </a:bodyPr>
          <a:lstStyle>
            <a:lvl1pPr marL="0" indent="0" rtl="0">
              <a:lnSpc>
                <a:spcPct val="100000"/>
              </a:lnSpc>
              <a:buFontTx/>
              <a:buNone/>
              <a:defRPr sz="7200" b="1">
                <a:solidFill>
                  <a:schemeClr val="tx2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 noProof="0" dirty="0"/>
              <a:t>A1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518E7B-00FD-45A8-91EB-08EBB2BB7F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43270" y="1"/>
            <a:ext cx="4848730" cy="6570481"/>
          </a:xfrm>
          <a:gradFill>
            <a:gsLst>
              <a:gs pos="1000">
                <a:schemeClr val="tx2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marL="0" indent="0" rtl="0">
              <a:lnSpc>
                <a:spcPct val="100000"/>
              </a:lnSpc>
              <a:buNone/>
              <a:defRPr lang="en-GB">
                <a:latin typeface="BMWGroupTN Condensed" pitchFamily="50" charset="0"/>
              </a:defRPr>
            </a:lvl1pPr>
          </a:lstStyle>
          <a:p>
            <a:pPr marL="0" lvl="0"/>
            <a:r>
              <a:rPr lang="de-DE" noProof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9808" y="2565951"/>
            <a:ext cx="6374130" cy="1846659"/>
          </a:xfrm>
          <a:noFill/>
        </p:spPr>
        <p:txBody>
          <a:bodyPr vert="horz" wrap="square" lIns="0" tIns="0" rIns="0" bIns="0" anchor="t" anchorCtr="0">
            <a:sp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b="0" cap="all" baseline="0">
                <a:solidFill>
                  <a:schemeClr val="tx1"/>
                </a:solidFill>
              </a:defRPr>
            </a:lvl1pPr>
          </a:lstStyle>
          <a:p>
            <a:r>
              <a:rPr lang="de-DE" noProof="0" dirty="0" err="1"/>
              <a:t>Divider</a:t>
            </a:r>
            <a:r>
              <a:rPr lang="de-DE" noProof="0" dirty="0"/>
              <a:t>.</a:t>
            </a:r>
            <a:br>
              <a:rPr lang="de-DE" noProof="0" dirty="0"/>
            </a:br>
            <a:r>
              <a:rPr lang="de-DE" noProof="0" dirty="0" err="1"/>
              <a:t>Coloured</a:t>
            </a:r>
            <a:r>
              <a:rPr lang="de-DE" noProof="0" dirty="0"/>
              <a:t> Area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Picture on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right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348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EE7053F-DB9B-44B2-AD0F-3AB1F6CB57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193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EE7053F-DB9B-44B2-AD0F-3AB1F6CB57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595304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5645238-9DEC-4A72-9BA1-F517092FAE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1232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5645238-9DEC-4A72-9BA1-F517092FA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89306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4" pos="3704" userDrawn="1">
          <p15:clr>
            <a:srgbClr val="FBAE40"/>
          </p15:clr>
        </p15:guide>
        <p15:guide id="15" pos="3976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  <p15:guide id="17" orient="horz" pos="236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1CCC0F5-E43D-4616-B7C4-E058ADB68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72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1CCC0F5-E43D-4616-B7C4-E058ADB68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D9028297-F8A3-40B3-AA36-477ABB38F3E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11224684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cap="all" baseline="0"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568052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9873D050-8C41-4684-9B1D-81971AB5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562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9873D050-8C41-4684-9B1D-81971AB5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BA9CD6AC-9C73-4D8F-9F5C-1CF35772BD3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7288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4EA6A0CB-E01D-4647-9CEB-66AA968428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6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8809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711" userDrawn="1">
          <p15:clr>
            <a:srgbClr val="FBAE40"/>
          </p15:clr>
        </p15:guide>
        <p15:guide id="6" pos="39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7C54160-9C46-4866-882D-50B5C096B1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61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7C54160-9C46-4866-882D-50B5C096B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Inhaltsplatzhalter 3">
            <a:extLst>
              <a:ext uri="{FF2B5EF4-FFF2-40B4-BE49-F238E27FC236}">
                <a16:creationId xmlns:a16="http://schemas.microsoft.com/office/drawing/2014/main" id="{3988BB4E-F1CA-4BC0-993D-C218662BA85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16069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D7FB171-0CB4-4740-8625-DD15BF1FF8D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6" name="Inhaltsplatzhalter 1">
            <a:extLst>
              <a:ext uri="{FF2B5EF4-FFF2-40B4-BE49-F238E27FC236}">
                <a16:creationId xmlns:a16="http://schemas.microsoft.com/office/drawing/2014/main" id="{51462A60-9CA1-461B-A29A-E91D63B609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6050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7" userDrawn="1">
          <p15:clr>
            <a:srgbClr val="FBAE40"/>
          </p15:clr>
        </p15:guide>
        <p15:guide id="4" pos="4978" userDrawn="1">
          <p15:clr>
            <a:srgbClr val="FBAE40"/>
          </p15:clr>
        </p15:guide>
        <p15:guide id="5" pos="2710" userDrawn="1">
          <p15:clr>
            <a:srgbClr val="FBAE40"/>
          </p15:clr>
        </p15:guide>
        <p15:guide id="6" pos="511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562CC6E-EDA2-4F9E-A09B-A2E54AB188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10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562CC6E-EDA2-4F9E-A09B-A2E54AB188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8BA2F5EE-5EBD-4514-8AF6-B05EC345392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69460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2" name="Inhaltsplatzhalter 3">
            <a:extLst>
              <a:ext uri="{FF2B5EF4-FFF2-40B4-BE49-F238E27FC236}">
                <a16:creationId xmlns:a16="http://schemas.microsoft.com/office/drawing/2014/main" id="{60EC06ED-6F07-4680-9AE2-23D7698B36D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09289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027E4EC2-9005-40D4-918C-FD11293AE43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49118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CD857AE5-6C50-432B-94B7-EC5D482133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63406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5705" userDrawn="1">
          <p15:clr>
            <a:srgbClr val="FBAE40"/>
          </p15:clr>
        </p15:guide>
        <p15:guide id="7" pos="1977" userDrawn="1">
          <p15:clr>
            <a:srgbClr val="FBAE40"/>
          </p15:clr>
        </p15:guide>
        <p15:guide id="8" pos="2104" userDrawn="1">
          <p15:clr>
            <a:srgbClr val="FBAE40"/>
          </p15:clr>
        </p15:guide>
        <p15:guide id="9" pos="3777" userDrawn="1">
          <p15:clr>
            <a:srgbClr val="FBAE40"/>
          </p15:clr>
        </p15:guide>
        <p15:guide id="10" pos="3905" userDrawn="1">
          <p15:clr>
            <a:srgbClr val="FBAE40"/>
          </p15:clr>
        </p15:guide>
        <p15:guide id="11" pos="557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8D39B1E-A015-4084-940D-8BBABCAACD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8213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8D39B1E-A015-4084-940D-8BBABCAACD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Inhaltsplatzhalter 4"/>
          <p:cNvSpPr>
            <a:spLocks noGrp="1"/>
          </p:cNvSpPr>
          <p:nvPr>
            <p:ph sz="quarter" idx="13" hasCustomPrompt="1"/>
          </p:nvPr>
        </p:nvSpPr>
        <p:spPr>
          <a:xfrm>
            <a:off x="6317289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2" hasCustomPrompt="1"/>
          </p:nvPr>
        </p:nvSpPr>
        <p:spPr>
          <a:xfrm>
            <a:off x="488947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1" hasCustomPrompt="1"/>
          </p:nvPr>
        </p:nvSpPr>
        <p:spPr>
          <a:xfrm>
            <a:off x="6317289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97895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711" userDrawn="1">
          <p15:clr>
            <a:srgbClr val="FBAE40"/>
          </p15:clr>
        </p15:guide>
        <p15:guide id="14" pos="3977" userDrawn="1">
          <p15:clr>
            <a:srgbClr val="FBAE40"/>
          </p15:clr>
        </p15:guide>
        <p15:guide id="15" orient="horz" pos="2365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F2FD9A65-9362-4228-B368-164FA84D17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6525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F2FD9A65-9362-4228-B368-164FA84D17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6316130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Bildplatzhalter 1">
            <a:extLst>
              <a:ext uri="{FF2B5EF4-FFF2-40B4-BE49-F238E27FC236}">
                <a16:creationId xmlns:a16="http://schemas.microsoft.com/office/drawing/2014/main" id="{5730C142-F37E-4F0E-997D-1B4882F0DF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2744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13" userDrawn="1">
          <p15:clr>
            <a:srgbClr val="FBAE40"/>
          </p15:clr>
        </p15:guide>
        <p15:guide id="12" pos="396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E3B85CB-7648-45C2-8AA4-9F501EFD04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752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E3B85CB-7648-45C2-8AA4-9F501EFD0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5FB2A3B7-A796-4B19-828B-216A63DF68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5553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396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3713">
          <p15:clr>
            <a:srgbClr val="FBAE40"/>
          </p15:clr>
        </p15:guide>
        <p15:guide id="10" pos="396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8ECEF4E8-D1ED-4741-8EA5-2F059DE1A8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1619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8ECEF4E8-D1ED-4741-8EA5-2F059DE1A8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2">
            <a:extLst>
              <a:ext uri="{FF2B5EF4-FFF2-40B4-BE49-F238E27FC236}">
                <a16:creationId xmlns:a16="http://schemas.microsoft.com/office/drawing/2014/main" id="{21DD1C87-BB96-419F-854D-07AA4BC5B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17289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7" name="Bildplatzhalter 1">
            <a:extLst>
              <a:ext uri="{FF2B5EF4-FFF2-40B4-BE49-F238E27FC236}">
                <a16:creationId xmlns:a16="http://schemas.microsoft.com/office/drawing/2014/main" id="{002A9939-48F2-4545-B99B-4FBDD4F466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8947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21A07BCC-CBB3-45C5-871C-CEC015A95C5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968797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4842ABB0-6221-4430-AD7F-233AE6B84A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6130" y="3968798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2578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977" userDrawn="1">
          <p15:clr>
            <a:srgbClr val="FBAE40"/>
          </p15:clr>
        </p15:guide>
        <p15:guide id="14" pos="371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58C59CFA-1435-478E-96A7-9D9FDB54C8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811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58C59CFA-1435-478E-96A7-9D9FDB54C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C1CC7D62-9893-4BEA-8A91-B49BF94C36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6069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D8F13227-C5D1-4782-B063-BEEC402A95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02508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8E88005D-BECE-427C-8BF8-4FB5D6607AF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8947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5" name="Inhaltsplatzhalter 1">
            <a:extLst>
              <a:ext uri="{FF2B5EF4-FFF2-40B4-BE49-F238E27FC236}">
                <a16:creationId xmlns:a16="http://schemas.microsoft.com/office/drawing/2014/main" id="{F618BC1E-BA4B-4C2D-9055-151550F257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39749FF8-9C62-429D-B248-147D3882DD4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0B2A38E1-027A-4A9E-9C3E-5F354A4A6AD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116069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14648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2577" userDrawn="1">
          <p15:clr>
            <a:srgbClr val="FBAE40"/>
          </p15:clr>
        </p15:guide>
        <p15:guide id="14" pos="2710" userDrawn="1">
          <p15:clr>
            <a:srgbClr val="FBAE40"/>
          </p15:clr>
        </p15:guide>
        <p15:guide id="15" pos="4978" userDrawn="1">
          <p15:clr>
            <a:srgbClr val="FBAE40"/>
          </p15:clr>
        </p15:guide>
        <p15:guide id="16" pos="511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11DD4F3-1611-4813-B014-B6F6B1F774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404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11DD4F3-1611-4813-B014-B6F6B1F774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A143C20-52BF-4891-994E-588F7993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69460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9B1A1B6B-6B2F-4D5A-91A8-C5161E45AB0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9289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073F01E6-A077-4F39-A94E-9EFE54D2E4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349118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1">
            <a:extLst>
              <a:ext uri="{FF2B5EF4-FFF2-40B4-BE49-F238E27FC236}">
                <a16:creationId xmlns:a16="http://schemas.microsoft.com/office/drawing/2014/main" id="{320CFD8C-6A4A-4FAB-822D-054B82DCFD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8947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6CE7BB11-9C21-456E-83D7-62B9D458E2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27E42A5D-C99D-4B3C-99B7-053CF69A119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9118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1" name="Inhaltsplatzhalter 1">
            <a:extLst>
              <a:ext uri="{FF2B5EF4-FFF2-40B4-BE49-F238E27FC236}">
                <a16:creationId xmlns:a16="http://schemas.microsoft.com/office/drawing/2014/main" id="{7DCDE22D-7C60-4E83-A6E8-C458BFB9DFC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09289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BC839F12-6E68-4D1C-B187-9307DD85F1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9460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96047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pos="1977" userDrawn="1">
          <p15:clr>
            <a:srgbClr val="FBAE40"/>
          </p15:clr>
        </p15:guide>
        <p15:guide id="16" pos="2104" userDrawn="1">
          <p15:clr>
            <a:srgbClr val="FBAE40"/>
          </p15:clr>
        </p15:guide>
        <p15:guide id="17" pos="3911" userDrawn="1">
          <p15:clr>
            <a:srgbClr val="FBAE40"/>
          </p15:clr>
        </p15:guide>
        <p15:guide id="18" pos="3777" userDrawn="1">
          <p15:clr>
            <a:srgbClr val="FBAE40"/>
          </p15:clr>
        </p15:guide>
        <p15:guide id="19" pos="5711" userDrawn="1">
          <p15:clr>
            <a:srgbClr val="FBAE40"/>
          </p15:clr>
        </p15:guide>
        <p15:guide id="20" pos="557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85183DF9-0121-47E6-9B72-30EF7AB86C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577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85183DF9-0121-47E6-9B72-30EF7AB86C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1412875"/>
            <a:ext cx="12202578" cy="1449216"/>
          </a:xfrm>
          <a:noFill/>
        </p:spPr>
        <p:txBody>
          <a:bodyPr vert="horz" lIns="572400" tIns="108000" rIns="572400" bIns="108000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Key Note </a:t>
            </a:r>
            <a:r>
              <a:rPr lang="de-DE" noProof="0" dirty="0" err="1"/>
              <a:t>slide</a:t>
            </a:r>
            <a:r>
              <a:rPr lang="de-DE" noProof="0" dirty="0"/>
              <a:t> </a:t>
            </a:r>
            <a:r>
              <a:rPr lang="de-DE" noProof="0" dirty="0" err="1"/>
              <a:t>with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without</a:t>
            </a:r>
            <a:r>
              <a:rPr lang="de-DE" noProof="0" dirty="0"/>
              <a:t> Picture. </a:t>
            </a:r>
            <a:br>
              <a:rPr lang="de-DE" noProof="0" dirty="0"/>
            </a:br>
            <a:r>
              <a:rPr lang="de-DE" noProof="0" dirty="0"/>
              <a:t>(Short!) Text </a:t>
            </a:r>
            <a:r>
              <a:rPr lang="de-DE" noProof="0" dirty="0" err="1"/>
              <a:t>can</a:t>
            </a:r>
            <a:r>
              <a:rPr lang="de-DE" noProof="0" dirty="0"/>
              <a:t> </a:t>
            </a:r>
            <a:r>
              <a:rPr lang="de-DE" noProof="0" dirty="0" err="1"/>
              <a:t>be</a:t>
            </a:r>
            <a:r>
              <a:rPr lang="de-DE" noProof="0" dirty="0"/>
              <a:t> </a:t>
            </a:r>
            <a:r>
              <a:rPr lang="de-DE" noProof="0" dirty="0" err="1"/>
              <a:t>moved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003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tags" Target="../tags/tag2.xml"/><Relationship Id="rId18" Type="http://schemas.openxmlformats.org/officeDocument/2006/relationships/image" Target="../media/image1.jpeg"/><Relationship Id="rId19" Type="http://schemas.openxmlformats.org/officeDocument/2006/relationships/oleObject" Target="../embeddings/oleObject1.bin"/><Relationship Id="rId20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Verschwommen, Blau, Farbigkei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C2FA1DC5-D677-440B-557F-318E849EDF5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8" b="8219"/>
          <a:stretch/>
        </p:blipFill>
        <p:spPr>
          <a:xfrm>
            <a:off x="361" y="-1"/>
            <a:ext cx="12191639" cy="6858001"/>
          </a:xfrm>
          <a:prstGeom prst="rect">
            <a:avLst/>
          </a:prstGeom>
        </p:spPr>
      </p:pic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09EE4F16-695E-4248-98E9-D0E744B1D2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715857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9" imgW="344" imgH="344" progId="TCLayout.ActiveDocument.1">
                  <p:embed/>
                </p:oleObj>
              </mc:Choice>
              <mc:Fallback>
                <p:oleObj name="think-cell Folie" r:id="rId19" imgW="344" imgH="344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09EE4F16-695E-4248-98E9-D0E744B1D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1"/>
          <p:cNvSpPr>
            <a:spLocks noGrp="1"/>
          </p:cNvSpPr>
          <p:nvPr>
            <p:ph type="body" idx="1"/>
          </p:nvPr>
        </p:nvSpPr>
        <p:spPr>
          <a:xfrm>
            <a:off x="488947" y="1413933"/>
            <a:ext cx="11224684" cy="4894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</a:t>
            </a:r>
            <a:r>
              <a:rPr lang="de-DE" noProof="0" dirty="0" err="1"/>
              <a:t>Uppercase</a:t>
            </a:r>
            <a:r>
              <a:rPr lang="de-DE" noProof="0" dirty="0"/>
              <a:t>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max.</a:t>
            </a:r>
          </a:p>
        </p:txBody>
      </p:sp>
      <p:cxnSp>
        <p:nvCxnSpPr>
          <p:cNvPr id="9" name="BMW Group Trennlinie">
            <a:extLst>
              <a:ext uri="{FF2B5EF4-FFF2-40B4-BE49-F238E27FC236}">
                <a16:creationId xmlns:a16="http://schemas.microsoft.com/office/drawing/2014/main" id="{BC1828C9-D469-4FB9-A7A2-6539CE4617FD}"/>
              </a:ext>
            </a:extLst>
          </p:cNvPr>
          <p:cNvCxnSpPr/>
          <p:nvPr userDrawn="1"/>
        </p:nvCxnSpPr>
        <p:spPr>
          <a:xfrm>
            <a:off x="-1" y="6572265"/>
            <a:ext cx="12192001" cy="0"/>
          </a:xfrm>
          <a:prstGeom prst="line">
            <a:avLst/>
          </a:prstGeom>
          <a:ln w="12700">
            <a:solidFill>
              <a:schemeClr val="bg1">
                <a:alpha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itenzahlAU1">
            <a:extLst>
              <a:ext uri="{FF2B5EF4-FFF2-40B4-BE49-F238E27FC236}">
                <a16:creationId xmlns:a16="http://schemas.microsoft.com/office/drawing/2014/main" id="{2222059C-550C-4186-A024-687BF66686BC}"/>
              </a:ext>
            </a:extLst>
          </p:cNvPr>
          <p:cNvSpPr/>
          <p:nvPr userDrawn="1"/>
        </p:nvSpPr>
        <p:spPr>
          <a:xfrm>
            <a:off x="11338527" y="6638189"/>
            <a:ext cx="3751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r>
              <a:rPr lang="en-GB" sz="1000" noProof="0">
                <a:solidFill>
                  <a:schemeClr val="bg1"/>
                </a:solidFill>
              </a:rPr>
              <a:t>- </a:t>
            </a:r>
            <a:fld id="{13EADCD7-5958-46D5-9257-6B99F6E48D58}" type="slidenum">
              <a:rPr lang="en-GB" sz="1000" noProof="0" smtClean="0">
                <a:solidFill>
                  <a:schemeClr val="bg1"/>
                </a:solidFill>
              </a:rPr>
              <a:pPr lvl="0" algn="r" rtl="0"/>
              <a:t>‹Nr.›</a:t>
            </a:fld>
            <a:r>
              <a:rPr lang="en-GB" sz="1000" noProof="0">
                <a:solidFill>
                  <a:schemeClr val="bg1"/>
                </a:solidFill>
              </a:rPr>
              <a:t> -</a:t>
            </a:r>
          </a:p>
        </p:txBody>
      </p:sp>
      <p:sp>
        <p:nvSpPr>
          <p:cNvPr id="12" name="FußzeileAU1">
            <a:extLst>
              <a:ext uri="{FF2B5EF4-FFF2-40B4-BE49-F238E27FC236}">
                <a16:creationId xmlns:a16="http://schemas.microsoft.com/office/drawing/2014/main" id="{90D422AA-106A-4F31-9838-F8E0F4532E2E}"/>
              </a:ext>
            </a:extLst>
          </p:cNvPr>
          <p:cNvSpPr txBox="1">
            <a:spLocks/>
          </p:cNvSpPr>
          <p:nvPr userDrawn="1"/>
        </p:nvSpPr>
        <p:spPr>
          <a:xfrm>
            <a:off x="488947" y="6638179"/>
            <a:ext cx="120706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de-DE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rtl="0"/>
            <a:r>
              <a:rPr lang="en-GB" noProof="0" dirty="0" err="1">
                <a:solidFill>
                  <a:schemeClr val="bg1"/>
                </a:solidFill>
              </a:rPr>
              <a:t>Abteilung</a:t>
            </a:r>
            <a:r>
              <a:rPr lang="en-GB" noProof="0" dirty="0">
                <a:solidFill>
                  <a:schemeClr val="bg1"/>
                </a:solidFill>
              </a:rPr>
              <a:t> | Titel I Datum</a:t>
            </a:r>
          </a:p>
        </p:txBody>
      </p:sp>
    </p:spTree>
    <p:extLst>
      <p:ext uri="{BB962C8B-B14F-4D97-AF65-F5344CB8AC3E}">
        <p14:creationId xmlns:p14="http://schemas.microsoft.com/office/powerpoint/2010/main" val="12889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0" r:id="rId2"/>
    <p:sldLayoutId id="2147483701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0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908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3816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5724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7632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9540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02" userDrawn="1">
          <p15:clr>
            <a:srgbClr val="F26B43"/>
          </p15:clr>
        </p15:guide>
        <p15:guide id="7" orient="horz" pos="217" userDrawn="1">
          <p15:clr>
            <a:srgbClr val="F26B43"/>
          </p15:clr>
        </p15:guide>
        <p15:guide id="8" pos="7378" userDrawn="1">
          <p15:clr>
            <a:srgbClr val="F26B43"/>
          </p15:clr>
        </p15:guide>
        <p15:guide id="9" orient="horz" pos="890" userDrawn="1">
          <p15:clr>
            <a:srgbClr val="F26B43"/>
          </p15:clr>
        </p15:guide>
        <p15:guide id="10" orient="horz" pos="3974" userDrawn="1">
          <p15:clr>
            <a:srgbClr val="F26B43"/>
          </p15:clr>
        </p15:guide>
        <p15:guide id="11" orient="horz" pos="413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39B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371600"/>
            <a:ext cx="256032" cy="256032"/>
          </a:xfrm>
          <a:prstGeom prst="ellipse">
            <a:avLst/>
          </a:prstGeom>
          <a:solidFill>
            <a:srgbClr val="39B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7008" y="1371600"/>
            <a:ext cx="256032" cy="256032"/>
          </a:xfrm>
          <a:prstGeom prst="ellipse">
            <a:avLst/>
          </a:prstGeom>
          <a:solidFill>
            <a:srgbClr val="079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91056" y="1371600"/>
            <a:ext cx="256032" cy="256032"/>
          </a:xfrm>
          <a:prstGeom prst="ellipse">
            <a:avLst/>
          </a:prstGeom>
          <a:solidFill>
            <a:srgbClr val="8CB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B3E6"/>
                </a:solidFill>
                <a:latin typeface="BMWGroupTN Condensed"/>
              </a:rPr>
              <a:t>OBSERVATIONAL 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BMWGroupTN Condensed"/>
              </a:rPr>
              <a:t>Curating Agent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CB7E3"/>
                </a:solidFill>
                <a:latin typeface="BMWGroupTN Condensed"/>
              </a:rPr>
              <a:t>Retention · Live-Context Retrieval · Human-in-the-Loop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709160"/>
            <a:ext cx="2926080" cy="41148"/>
          </a:xfrm>
          <a:prstGeom prst="rect">
            <a:avLst/>
          </a:prstGeom>
          <a:solidFill>
            <a:srgbClr val="079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A2BD"/>
                </a:solidFill>
                <a:latin typeface="BMWGroupTN Condensed"/>
              </a:rPr>
              <a:t>Agent-Agnostic Observational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47104"/>
            <a:ext cx="116403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3A566A"/>
                </a:solidFill>
                <a:latin typeface="BMWGroupTN Condensed"/>
              </a:rPr>
              <a:t>Ritwik Ghosh   Intern   EF 412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35970"/>
                </a:solidFill>
                <a:latin typeface="BMWGroupTN Condensed"/>
              </a:rPr>
              <a:t>Why Curate Agent Memory?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79EDA"/>
                </a:solidFill>
                <a:latin typeface="BMWGroupTN Condensed"/>
              </a:rPr>
              <a:t>Not either / or — both goals matter at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12080" cy="3977639"/>
          </a:xfrm>
          <a:prstGeom prst="roundRect">
            <a:avLst/>
          </a:prstGeom>
          <a:solidFill>
            <a:srgbClr val="C8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079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BMWGroupTN Condensed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402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5970"/>
                </a:solidFill>
                <a:latin typeface="BMWGroupTN Condensed"/>
              </a:rPr>
              <a:t>Save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09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Context windows are finite — every stale token evicts a useful one.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You pay per token, on every single prompt.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Latency scales with prompt size.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Curation drops duplicate &amp; low-value memory before injection.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212080" cy="3977639"/>
          </a:xfrm>
          <a:prstGeom prst="roundRect">
            <a:avLst/>
          </a:prstGeom>
          <a:solidFill>
            <a:srgbClr val="DE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2194560"/>
            <a:ext cx="640080" cy="640080"/>
          </a:xfrm>
          <a:prstGeom prst="ellipse">
            <a:avLst/>
          </a:prstGeom>
          <a:solidFill>
            <a:srgbClr val="035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BMWGroupTN Condensed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402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5970"/>
                </a:solidFill>
                <a:latin typeface="BMWGroupTN Condensed"/>
              </a:rPr>
              <a:t>Prevent Misleading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63240"/>
            <a:ext cx="4709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Stale insights rot — renamed files &amp; moved routes silently mislead.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Off-topic recall derails the model's reasoning.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Blue-heavy cosine similarity alone can't tell relevant from related.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Curation demotes unverified, off-topic, low-confidence memory.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79EDA"/>
                </a:solidFill>
                <a:latin typeface="BMWGroupTN Condensed"/>
              </a:rPr>
              <a:t>Curation = feed the model less, but righter.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47104"/>
            <a:ext cx="116403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BAC4D0"/>
                </a:solidFill>
                <a:latin typeface="BMWGroupTN Condensed"/>
              </a:rPr>
              <a:t>Ritwik Ghosh   Intern   EF 412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35970"/>
                </a:solidFill>
                <a:latin typeface="BMWGroupTN Condensed"/>
              </a:rPr>
              <a:t>The Agent Lifecycle — Two Hook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79EDA"/>
                </a:solidFill>
                <a:latin typeface="BMWGroupTN Condensed"/>
              </a:rPr>
              <a:t>Memory is curated at exactly two events in every turn.</a:t>
            </a:r>
          </a:p>
        </p:txBody>
      </p:sp>
      <p:pic>
        <p:nvPicPr>
          <p:cNvPr id="5" name="Picture 4" descr="hooks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2212848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383280" y="1783080"/>
            <a:ext cx="8138160" cy="2057400"/>
          </a:xfrm>
          <a:prstGeom prst="roundRect">
            <a:avLst/>
          </a:prstGeom>
          <a:solidFill>
            <a:srgbClr val="DE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1783080"/>
            <a:ext cx="128016" cy="2057400"/>
          </a:xfrm>
          <a:prstGeom prst="rect">
            <a:avLst/>
          </a:prstGeom>
          <a:solidFill>
            <a:srgbClr val="079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9659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35970"/>
                </a:solidFill>
                <a:latin typeface="BMWGroupTN Condensed"/>
              </a:rPr>
              <a:t>UserPromptSubmit  →  Knowledge Injection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51460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Fires BEFORE the model sees the prompt.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Retrieves Working + Observational memory for the draft query.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Injects the token-budgeted, ranked context into the turn.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160520"/>
            <a:ext cx="8138160" cy="2057400"/>
          </a:xfrm>
          <a:prstGeom prst="roundRect">
            <a:avLst/>
          </a:prstGeom>
          <a:solidFill>
            <a:srgbClr val="C8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4160520"/>
            <a:ext cx="128016" cy="2057400"/>
          </a:xfrm>
          <a:prstGeom prst="rect">
            <a:avLst/>
          </a:prstGeom>
          <a:solidFill>
            <a:srgbClr val="035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43434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35970"/>
                </a:solidFill>
                <a:latin typeface="BMWGroupTN Condensed"/>
              </a:rPr>
              <a:t>PostToolUse  →  Knowledge Retention 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489204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Fires AFTER each completed exchange / tool result.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Captures the Intent / Approach / Artifacts / Result summary.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BMWGroupTN Condensed"/>
              </a:rPr>
              <a:t>•  Fire-and-forget hand-off to the Observation Writer (never blocks).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47104"/>
            <a:ext cx="116403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BAC4D0"/>
                </a:solidFill>
                <a:latin typeface="BMWGroupTN Condensed"/>
              </a:rPr>
              <a:t>Ritwik Ghosh   Intern   EF 412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35970"/>
                </a:solidFill>
                <a:latin typeface="BMWGroupTN Condensed"/>
              </a:rPr>
              <a:t>Three-Tier Observational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79EDA"/>
                </a:solidFill>
                <a:latin typeface="BMWGroupTN Condensed"/>
              </a:rPr>
              <a:t>Rising abstraction &amp; persistence ↑   —   falling volume 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66160" cy="4160520"/>
          </a:xfrm>
          <a:prstGeom prst="roundRect">
            <a:avLst/>
          </a:prstGeom>
          <a:solidFill>
            <a:srgbClr val="C8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079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BMWGroupTN Condense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1284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5970"/>
                </a:solidFill>
                <a:latin typeface="BMWGroupTN Condensed"/>
              </a:rPr>
              <a:t>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63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Per-exchange structured summary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Intent / Approach / Artifacts / Result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Created real-time, per prompt-set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Fire-and-forget · ~30 / day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87952" y="3703320"/>
            <a:ext cx="201168" cy="411480"/>
          </a:xfrm>
          <a:prstGeom prst="rightArrow">
            <a:avLst/>
          </a:prstGeom>
          <a:solidFill>
            <a:srgbClr val="92A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566160" cy="4160520"/>
          </a:xfrm>
          <a:prstGeom prst="roundRect">
            <a:avLst/>
          </a:prstGeom>
          <a:solidFill>
            <a:srgbClr val="DE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45152" y="2103120"/>
            <a:ext cx="658368" cy="658368"/>
          </a:xfrm>
          <a:prstGeom prst="ellipse">
            <a:avLst/>
          </a:prstGeom>
          <a:solidFill>
            <a:srgbClr val="035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BMWGroupTN Condense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221284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5970"/>
                </a:solidFill>
                <a:latin typeface="BMWGroupTN Condensed"/>
              </a:rPr>
              <a:t>Digests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Daily thematic work-session summary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Groups a day's observations by theme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Created end-of-day (cron or manual)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~7 / day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18704" y="3703320"/>
            <a:ext cx="201168" cy="411480"/>
          </a:xfrm>
          <a:prstGeom prst="rightArrow">
            <a:avLst/>
          </a:prstGeom>
          <a:solidFill>
            <a:srgbClr val="92A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1583" y="1828800"/>
            <a:ext cx="3566160" cy="4160520"/>
          </a:xfrm>
          <a:prstGeom prst="round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75904" y="2103120"/>
            <a:ext cx="658368" cy="658368"/>
          </a:xfrm>
          <a:prstGeom prst="ellipse">
            <a:avLst/>
          </a:prstGeom>
          <a:solidFill>
            <a:srgbClr val="39B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BMWGroupTN Condense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3" y="221284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5970"/>
                </a:solidFill>
                <a:latin typeface="BMWGroupTN Condensed"/>
              </a:rPr>
              <a:t>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3063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Durable, self-verifying knowledge article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Purpose / Architecture / Key files / Usage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Created weekly · when ≥ 5 new digests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BMWGroupTN Condensed"/>
              </a:rPr>
              <a:t>•  Confidence decays −0.05 / week · ~10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47104"/>
            <a:ext cx="116403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BAC4D0"/>
                </a:solidFill>
                <a:latin typeface="BMWGroupTN Condensed"/>
              </a:rPr>
              <a:t>Ritwik Ghosh   Intern   EF 412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5970"/>
                </a:solidFill>
                <a:latin typeface="BMWGroupTN Condensed"/>
              </a:rPr>
              <a:t>Memory Introspection → Live Memory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79EDA"/>
                </a:solidFill>
                <a:latin typeface="BMWGroupTN Condensed"/>
              </a:rPr>
              <a:t>Inspect before you Submit.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35970"/>
                </a:solidFill>
                <a:latin typeface="BMWGroupTN Condensed"/>
              </a:rPr>
              <a:t>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BMWGroupTN Condensed"/>
              </a:rPr>
              <a:t>•  See exactly what memory a draft prompt will pull — before pressing Enter.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BMWGroupTN Condensed"/>
              </a:rPr>
              <a:t>•  Spot irrelevant or duplicate hits your wording attracted.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BMWGroupTN Condensed"/>
              </a:rPr>
              <a:t>•  Rephrase the query to steer retrieval: sharper keywords, tighter scope.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BMWGroupTN Condensed"/>
              </a:rPr>
              <a:t>•  Tune thresholds live — the preview reads the same settings file as the real hook.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5852160" cy="685800"/>
          </a:xfrm>
          <a:prstGeom prst="roundRect">
            <a:avLst/>
          </a:prstGeom>
          <a:solidFill>
            <a:srgbClr val="DE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1558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35970"/>
                </a:solidFill>
                <a:latin typeface="BMWGroupTN Condensed"/>
              </a:rPr>
              <a:t>Draft  →  Inspect  →  Rephrase  →  Submit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965960"/>
            <a:ext cx="4754880" cy="4389120"/>
          </a:xfrm>
          <a:prstGeom prst="roundRect">
            <a:avLst/>
          </a:prstGeom>
          <a:solidFill>
            <a:srgbClr val="C8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1945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35970"/>
                </a:solidFill>
                <a:latin typeface="BMWGroupTN Condensed"/>
              </a:rP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251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BMWGroupTN Condensed"/>
              </a:rPr>
              <a:t>•  Fewer tokens wasted on irrelevant memory.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BMWGroupTN Condensed"/>
              </a:rPr>
              <a:t>•  Higher-signal context → more accurate answers.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BMWGroupTN Condensed"/>
              </a:rPr>
              <a:t>•  Query rephrasing is a cheap, immediate control lever.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BMWGroupTN Condensed"/>
              </a:rPr>
              <a:t>•  Confidence that the injected context is the right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47104"/>
            <a:ext cx="116403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BAC4D0"/>
                </a:solidFill>
                <a:latin typeface="BMWGroupTN Condensed"/>
              </a:rPr>
              <a:t>Ritwik Ghosh   Intern   EF 412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35970"/>
                </a:solidFill>
                <a:latin typeface="BMWGroupTN Condensed"/>
              </a:rPr>
              <a:t>Human-in-the-Loop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79EDA"/>
                </a:solidFill>
                <a:latin typeface="BMWGroupTN Condensed"/>
              </a:rPr>
              <a:t>A human reorder becomes a learned, decaying rerank boost.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5742432" cy="4114800"/>
          </a:xfrm>
          <a:prstGeom prst="roundRect">
            <a:avLst/>
          </a:prstGeom>
          <a:solidFill>
            <a:srgbClr val="0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ll-results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548640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000000"/>
                </a:solidFill>
                <a:latin typeface="BMWGroupTN Condensed"/>
              </a:rPr>
              <a:t>•  Drag results into the order you actually wanted.</a:t>
            </a:r>
          </a:p>
          <a:p>
            <a:pPr algn="l">
              <a:spcAft>
                <a:spcPts val="600"/>
              </a:spcAft>
            </a:pPr>
            <a:r>
              <a:rPr sz="1550" b="0">
                <a:solidFill>
                  <a:srgbClr val="000000"/>
                </a:solidFill>
                <a:latin typeface="BMWGroupTN Condensed"/>
              </a:rPr>
              <a:t>•  “Save ranking” captures ONE feedback event: the query + the reorder.</a:t>
            </a:r>
          </a:p>
          <a:p>
            <a:pPr algn="l">
              <a:spcAft>
                <a:spcPts val="600"/>
              </a:spcAft>
            </a:pPr>
            <a:r>
              <a:rPr sz="1550" b="0">
                <a:solidFill>
                  <a:srgbClr val="000000"/>
                </a:solidFill>
                <a:latin typeface="BMWGroupTN Condensed"/>
              </a:rPr>
              <a:t>•  Stored as a query-keyed vector in human_rerank_feedback (Qdrant).</a:t>
            </a:r>
          </a:p>
          <a:p>
            <a:pPr algn="l">
              <a:spcAft>
                <a:spcPts val="600"/>
              </a:spcAft>
            </a:pPr>
            <a:r>
              <a:rPr sz="1550" b="0">
                <a:solidFill>
                  <a:srgbClr val="000000"/>
                </a:solidFill>
                <a:latin typeface="BMWGroupTN Condensed"/>
              </a:rPr>
              <a:t>•  Next similar query → learned rerank nudges those items × 0.90–1.25.</a:t>
            </a:r>
          </a:p>
          <a:p>
            <a:pPr algn="l">
              <a:spcAft>
                <a:spcPts val="600"/>
              </a:spcAft>
            </a:pPr>
            <a:r>
              <a:rPr sz="1550" b="0">
                <a:solidFill>
                  <a:srgbClr val="000000"/>
                </a:solidFill>
                <a:latin typeface="BMWGroupTN Condensed"/>
              </a:rPr>
              <a:t>•  SCORE / RRF / WAS badges expose exactly how each item moved.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16403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BAC4D0"/>
                </a:solidFill>
                <a:latin typeface="BMWGroupTN Condensed"/>
              </a:rPr>
              <a:t>Ritwik Ghosh   Intern   EF 412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35970"/>
                </a:solidFill>
                <a:latin typeface="BMWGroupTN Condensed"/>
              </a:rPr>
              <a:t>Near-Duplicate Isolation — the Exponential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5214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79EDA"/>
                </a:solidFill>
                <a:latin typeface="BMWGroupTN Condensed"/>
              </a:rPr>
              <a:t>Only queries above the 0.85 floor count — and the exponent decides how much.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943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arned-rerank-exponential-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74519"/>
            <a:ext cx="5650992" cy="3502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7830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000000"/>
                </a:solidFill>
                <a:latin typeface="BMWGroupTN Condensed"/>
              </a:rPr>
              <a:t>•  Gate 1 — hard admission floor at 0.85 cosine; below it, an event is ignored entirely.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000000"/>
                </a:solidFill>
                <a:latin typeface="BMWGroupTN Condensed"/>
              </a:rPr>
              <a:t>•  Gate 2 — weight = similarity ^ k reshapes the narrow admitted band (0.85–1.00).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000000"/>
                </a:solidFill>
                <a:latin typeface="BMWGroupTN Condensed"/>
              </a:rPr>
              <a:t>•  k = 3 (default): 0.86³ ≈ 0.64  vs  0.97³ ≈ 0.91 — gap widens 0.11 → 0.27.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000000"/>
                </a:solidFill>
                <a:latin typeface="BMWGroupTN Condensed"/>
              </a:rPr>
              <a:t>•  k = 8: 0.86⁸ ≈ 0.30 suppressed; only near-identical queries survive.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4892040"/>
            <a:ext cx="4846320" cy="1051560"/>
          </a:xfrm>
          <a:prstGeom prst="roundRect">
            <a:avLst/>
          </a:prstGeom>
          <a:solidFill>
            <a:srgbClr val="DE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35970"/>
                </a:solidFill>
                <a:latin typeface="BMWGroupTN Condensed"/>
              </a:rPr>
              <a:t>cosine   →   k=1      k=3      k=8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BMWGroupTN Condensed"/>
              </a:rPr>
              <a:t>0.86       0.86     0.64     0.30   (related — fades)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596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9EDA"/>
                </a:solidFill>
                <a:latin typeface="BMWGroupTN Condensed"/>
              </a:rPr>
              <a:t>0.97       0.97     0.91     0.78   (near-dup — kept)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47104"/>
            <a:ext cx="116403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BAC4D0"/>
                </a:solidFill>
                <a:latin typeface="BMWGroupTN Condensed"/>
              </a:rPr>
              <a:t>Ritwik Ghosh   Intern   EF 412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30368" y="2148840"/>
            <a:ext cx="274320" cy="274320"/>
          </a:xfrm>
          <a:prstGeom prst="ellipse">
            <a:avLst/>
          </a:prstGeom>
          <a:solidFill>
            <a:srgbClr val="39B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50992" y="2148840"/>
            <a:ext cx="274320" cy="274320"/>
          </a:xfrm>
          <a:prstGeom prst="ellipse">
            <a:avLst/>
          </a:prstGeom>
          <a:solidFill>
            <a:srgbClr val="079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71616" y="2148840"/>
            <a:ext cx="274320" cy="274320"/>
          </a:xfrm>
          <a:prstGeom prst="ellipse">
            <a:avLst/>
          </a:prstGeom>
          <a:solidFill>
            <a:srgbClr val="8CB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BMWGroupTN Condense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CB7E3"/>
                </a:solidFill>
                <a:latin typeface="BMWGroupTN Condensed"/>
              </a:rPr>
              <a:t>Curating Agent Memory — Retention, Retrieval &amp; Human Feedback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6048" y="4800600"/>
            <a:ext cx="2286000" cy="36576"/>
          </a:xfrm>
          <a:prstGeom prst="rect">
            <a:avLst/>
          </a:prstGeom>
          <a:solidFill>
            <a:srgbClr val="079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47104"/>
            <a:ext cx="116403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3A566A"/>
                </a:solidFill>
                <a:latin typeface="BMWGroupTN Condensed"/>
              </a:rPr>
              <a:t>Ritwik Ghosh   Intern   EF 412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THINKCELLPRESENTATIONDONOTDELETE" val="&lt;?xml version=&quot;1.0&quot; encoding=&quot;UTF-16&quot; standalone=&quot;yes&quot;?&gt;&lt;root reqver=&quot;27037&quot;&gt;&lt;version val=&quot;3261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MW Group 2021">
  <a:themeElements>
    <a:clrScheme name="Benutzerdefiniert 2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39B3E6"/>
      </a:accent1>
      <a:accent2>
        <a:srgbClr val="079EDA"/>
      </a:accent2>
      <a:accent3>
        <a:srgbClr val="8CB7E3"/>
      </a:accent3>
      <a:accent4>
        <a:srgbClr val="C8D7E0"/>
      </a:accent4>
      <a:accent5>
        <a:srgbClr val="DEE5EC"/>
      </a:accent5>
      <a:accent6>
        <a:srgbClr val="E8EBF1"/>
      </a:accent6>
      <a:hlink>
        <a:srgbClr val="FFFFFF"/>
      </a:hlink>
      <a:folHlink>
        <a:srgbClr val="39B3E6"/>
      </a:folHlink>
    </a:clrScheme>
    <a:fontScheme name="BMW Group 2021">
      <a:majorFont>
        <a:latin typeface="BMWGroupTN Condensed"/>
        <a:ea typeface=""/>
        <a:cs typeface=""/>
      </a:majorFont>
      <a:minorFont>
        <a:latin typeface="BMWGroupTN Condensed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19050">
          <a:noFill/>
          <a:miter lim="800000"/>
        </a:ln>
      </a:spPr>
      <a:bodyPr rtlCol="0" anchor="t" anchorCtr="0"/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chemeClr val="tx2"/>
          </a:buClr>
          <a:buFontTx/>
          <a:buNone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Blue">
      <a:srgbClr val="035970"/>
    </a:custClr>
    <a:custClr name="Night Blue">
      <a:srgbClr val="173B68"/>
    </a:custClr>
    <a:custClr name="Sky Blue">
      <a:srgbClr val="7B9AC0"/>
    </a:custClr>
    <a:custClr name="Turquoise">
      <a:srgbClr val="009A97"/>
    </a:custClr>
    <a:custClr name="Yellow">
      <a:srgbClr val="FAD022"/>
    </a:custClr>
    <a:custClr name="Orange">
      <a:srgbClr val="E96D0C"/>
    </a:custClr>
    <a:custClr name="Purple">
      <a:srgbClr val="8D1E77"/>
    </a:custClr>
    <a:custClr name="Red">
      <a:srgbClr val="AC1640"/>
    </a:custClr>
    <a:custClr name="Cyan">
      <a:srgbClr val="079EDA"/>
    </a:custClr>
    <a:custClr name="Green">
      <a:srgbClr val="508130"/>
    </a:custClr>
    <a:custClr name="Ocean Blue darker">
      <a:srgbClr val="024152"/>
    </a:custClr>
    <a:custClr name="Night Blue darker">
      <a:srgbClr val="133155"/>
    </a:custClr>
    <a:custClr name="Sky Blue darker">
      <a:srgbClr val="5179A9"/>
    </a:custClr>
    <a:custClr name="Turquoise darker">
      <a:srgbClr val="00777A"/>
    </a:custClr>
    <a:custClr name="Yellow darker">
      <a:srgbClr val="D2A000"/>
    </a:custClr>
    <a:custClr name="Orange darker">
      <a:srgbClr val="AF5009"/>
    </a:custClr>
    <a:custClr name="Purple darker">
      <a:srgbClr val="6B175B"/>
    </a:custClr>
    <a:custClr name="Red darker">
      <a:srgbClr val="76102D"/>
    </a:custClr>
    <a:custClr name="Cyan darker">
      <a:srgbClr val="05709B"/>
    </a:custClr>
    <a:custClr name="Green darker">
      <a:srgbClr val="365620"/>
    </a:custClr>
    <a:custClr name="Ocean Blue 30% lighter">
      <a:srgbClr val="4F8B9B"/>
    </a:custClr>
    <a:custClr name="Night Blue 30% lighter">
      <a:srgbClr val="687F9D"/>
    </a:custClr>
    <a:custClr name="Sky Blue 30% lighter">
      <a:srgbClr val="A8BED4"/>
    </a:custClr>
    <a:custClr name="Turquoise 30% lighter">
      <a:srgbClr val="66C2C1"/>
    </a:custClr>
    <a:custClr name="Yellow 30% lighter">
      <a:srgbClr val="FCE37A"/>
    </a:custClr>
    <a:custClr name="Orange 30% lighter">
      <a:srgbClr val="F69954"/>
    </a:custClr>
    <a:custClr name="Purple 30% lighter">
      <a:srgbClr val="BB78AD"/>
    </a:custClr>
    <a:custClr name="Red 30% lighter">
      <a:srgbClr val="CD738C"/>
    </a:custClr>
    <a:custClr name="Cyan 30% lighter">
      <a:srgbClr val="6DCBF1"/>
    </a:custClr>
    <a:custClr name="Green 30% lighter">
      <a:srgbClr val="8BB86D"/>
    </a:custClr>
    <a:custClr name="Ocean Blue 60% lighter">
      <a:srgbClr val="A7C5CD"/>
    </a:custClr>
    <a:custClr name="Night Blue 60% lighter">
      <a:srgbClr val="B9C4D1"/>
    </a:custClr>
    <a:custClr name="Sky Blue 60% lighter">
      <a:srgbClr val="D0DDE8"/>
    </a:custClr>
    <a:custClr name="Turquoise 60% lighter">
      <a:srgbClr val="B2E0E0"/>
    </a:custClr>
    <a:custClr name="Yellow 60% lighter">
      <a:srgbClr val="FDF1BC"/>
    </a:custClr>
    <a:custClr name="Orange 60% lighter">
      <a:srgbClr val="FBCCA9"/>
    </a:custClr>
    <a:custClr name="Purple 60% lighter">
      <a:srgbClr val="DDBBD6"/>
    </a:custClr>
    <a:custClr name="Red 60% lighter">
      <a:srgbClr val="E6B9C5"/>
    </a:custClr>
    <a:custClr name="Cyan 60% lighter">
      <a:srgbClr val="B1E7FD"/>
    </a:custClr>
    <a:custClr name="Green 60% lighter">
      <a:srgbClr val="C9DEBB"/>
    </a:custClr>
  </a:custClrLst>
  <a:extLst>
    <a:ext uri="{05A4C25C-085E-4340-85A3-A5531E510DB2}">
      <thm15:themeFamily xmlns:thm15="http://schemas.microsoft.com/office/thememl/2012/main" name="BMWG_BMW+MINI.potx" id="{FFF9D21A-8DE5-4E2C-A7E3-66C00DDBA5FC}" vid="{7C9DA60D-2914-47A9-8F5B-7B099C11FCF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664579ADB478418E932E41AA62B452" ma:contentTypeVersion="13" ma:contentTypeDescription="Create a new document." ma:contentTypeScope="" ma:versionID="f73b8137c6f3cedfa0cc0bc7b07c99eb">
  <xsd:schema xmlns:xsd="http://www.w3.org/2001/XMLSchema" xmlns:xs="http://www.w3.org/2001/XMLSchema" xmlns:p="http://schemas.microsoft.com/office/2006/metadata/properties" xmlns:ns2="7a1dcbc4-9aca-446d-a5ec-5bc7a962dec6" xmlns:ns3="aba041c1-e528-4c26-87ed-161898704f09" targetNamespace="http://schemas.microsoft.com/office/2006/metadata/properties" ma:root="true" ma:fieldsID="0f32bb3fbc0c36ae37d2b6bda9795d61" ns2:_="" ns3:_="">
    <xsd:import namespace="7a1dcbc4-9aca-446d-a5ec-5bc7a962dec6"/>
    <xsd:import namespace="aba041c1-e528-4c26-87ed-161898704f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1dcbc4-9aca-446d-a5ec-5bc7a962de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96b8e5b-1f52-4d89-9d30-0680d0269b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a041c1-e528-4c26-87ed-161898704f0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42e05873-d403-4f5d-9119-561b0f25bc43}" ma:internalName="TaxCatchAll" ma:showField="CatchAllData" ma:web="aba041c1-e528-4c26-87ed-161898704f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ba041c1-e528-4c26-87ed-161898704f09" xsi:nil="true"/>
    <lcf76f155ced4ddcb4097134ff3c332f xmlns="7a1dcbc4-9aca-446d-a5ec-5bc7a962de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293394C-9B92-46DF-B758-3241FD2FC1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CEE22E-DC83-40FE-A177-D4AE69F3FD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1dcbc4-9aca-446d-a5ec-5bc7a962dec6"/>
    <ds:schemaRef ds:uri="aba041c1-e528-4c26-87ed-161898704f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5EC10F-8510-4075-9E1B-1B744CB8936F}">
  <ds:schemaRefs>
    <ds:schemaRef ds:uri="aba041c1-e528-4c26-87ed-161898704f09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a1dcbc4-9aca-446d-a5ec-5bc7a962dec6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c2601314-b878-4900-a263-6d04f23371fa}" enabled="1" method="Privileged" siteId="{ce849bab-cc1c-465b-b62e-18f07c9ac19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BMWG_BMW+MINI</Template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BMW Group Condensed</vt:lpstr>
      <vt:lpstr>BMWGroupTN Condensed</vt:lpstr>
      <vt:lpstr>BMW Group 2021</vt:lpstr>
      <vt:lpstr>think-cell Folie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Diana.Schaidnagel@bmw.de</dc:creator>
  <cp:lastModifiedBy>Pfister Florian, EF-441</cp:lastModifiedBy>
  <cp:revision>21</cp:revision>
  <dcterms:created xsi:type="dcterms:W3CDTF">2025-11-13T12:37:53Z</dcterms:created>
  <dcterms:modified xsi:type="dcterms:W3CDTF">2026-04-13T13:33:16Z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0x010100E3664579ADB478418E932E41AA62B452</vt:lpwstr>
  </property>
  <property fmtid="{D5CDD505-2E9C-101B-9397-08002B2CF9AE}" pid="3" name="MSIP_Label_9871b80c-ba46-4bfb-8ae2-045b5c64b754_Enabled">
    <vt:lpwstr>true</vt:lpwstr>
  </property>
  <property fmtid="{D5CDD505-2E9C-101B-9397-08002B2CF9AE}" pid="4" name="MSIP_Label_9871b80c-ba46-4bfb-8ae2-045b5c64b754_SetDate">
    <vt:lpwstr>2025-11-18T11:36:22Z</vt:lpwstr>
  </property>
  <property fmtid="{D5CDD505-2E9C-101B-9397-08002B2CF9AE}" pid="5" name="MSIP_Label_9871b80c-ba46-4bfb-8ae2-045b5c64b754_Method">
    <vt:lpwstr>Standard</vt:lpwstr>
  </property>
  <property fmtid="{D5CDD505-2E9C-101B-9397-08002B2CF9AE}" pid="6" name="MSIP_Label_9871b80c-ba46-4bfb-8ae2-045b5c64b754_Name">
    <vt:lpwstr>General</vt:lpwstr>
  </property>
  <property fmtid="{D5CDD505-2E9C-101B-9397-08002B2CF9AE}" pid="7" name="MSIP_Label_9871b80c-ba46-4bfb-8ae2-045b5c64b754_SiteId">
    <vt:lpwstr>38ea53fb-9117-4764-adc6-31f828910b30</vt:lpwstr>
  </property>
  <property fmtid="{D5CDD505-2E9C-101B-9397-08002B2CF9AE}" pid="8" name="MSIP_Label_9871b80c-ba46-4bfb-8ae2-045b5c64b754_ActionId">
    <vt:lpwstr>95d83b21-ba2e-4a82-9a43-138d6cb27c53</vt:lpwstr>
  </property>
  <property fmtid="{D5CDD505-2E9C-101B-9397-08002B2CF9AE}" pid="9" name="MSIP_Label_9871b80c-ba46-4bfb-8ae2-045b5c64b754_ContentBits">
    <vt:lpwstr>0</vt:lpwstr>
  </property>
  <property fmtid="{D5CDD505-2E9C-101B-9397-08002B2CF9AE}" pid="10" name="MSIP_Label_9871b80c-ba46-4bfb-8ae2-045b5c64b754_Tag">
    <vt:lpwstr>10, 3, 0, 1</vt:lpwstr>
  </property>
  <property fmtid="{D5CDD505-2E9C-101B-9397-08002B2CF9AE}" pid="11" name="MediaServiceImageTags">
    <vt:lpwstr/>
  </property>
</Properties>
</file>